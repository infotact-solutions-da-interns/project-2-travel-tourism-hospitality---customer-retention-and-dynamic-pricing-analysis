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Urbanist Medium"/>
      <p:regular r:id="rId12"/>
      <p:bold r:id="rId13"/>
      <p:italic r:id="rId14"/>
      <p:boldItalic r:id="rId15"/>
    </p:embeddedFon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Medium-bold.fntdata"/><Relationship Id="rId12" Type="http://schemas.openxmlformats.org/officeDocument/2006/relationships/font" Target="fonts/Urbanis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boldItalic.fntdata"/><Relationship Id="rId14" Type="http://schemas.openxmlformats.org/officeDocument/2006/relationships/font" Target="fonts/UrbanistMedium-italic.fntdata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3b238775a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3b23877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11" Type="http://schemas.openxmlformats.org/officeDocument/2006/relationships/image" Target="../media/image13.png"/><Relationship Id="rId10" Type="http://schemas.openxmlformats.org/officeDocument/2006/relationships/image" Target="../media/image18.png"/><Relationship Id="rId12" Type="http://schemas.openxmlformats.org/officeDocument/2006/relationships/image" Target="../media/image11.png"/><Relationship Id="rId9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1925" y="4390876"/>
            <a:ext cx="42481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00500" y="1990873"/>
            <a:ext cx="7990998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Customer Retention &amp;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Dynamic Pricing</a:t>
            </a: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14687" y="3689895"/>
            <a:ext cx="57626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Data-Driven Revenue Risk Mitigation for Hotel Operations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0050" y="4533751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381625" y="1347787"/>
            <a:ext cx="142875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00500" y="1671637"/>
            <a:ext cx="7990998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High Cancellation Rates Are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Bleeding Revenue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809750" y="3643312"/>
            <a:ext cx="8572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hotel faces a significant financial risk due to late-stage cancellations. This project isolates the root causes of customer churn and proposes actionable deposit and inventory strategies to protect revenue without sacrificing booking volume.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303" y="1285875"/>
            <a:ext cx="5239196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1065460"/>
            <a:ext cx="5500218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OTAs &amp; Early Bookings Drive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Highest Churn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04875" y="2635001"/>
            <a:ext cx="4904928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OTA Problem: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Online Travel Agencies (Booking.com, Expedia) heavily incentivize "free cancellations," shifting the operational and financial risk entirely to the hotel.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04875" y="4213770"/>
            <a:ext cx="4904928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Lead Time Risk: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Bookings made 60+ days in advance act as low-commitment "placeholder" reservations. As lead time increases, the probability of cancellation rises exponentially.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5405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3282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1300" y="1285875"/>
            <a:ext cx="5239200" cy="42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303" y="1285875"/>
            <a:ext cx="5239196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71500" y="1233041"/>
            <a:ext cx="5500218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Financial Commitment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Reduces Risk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0828" y="1295400"/>
            <a:ext cx="5220146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904875" y="2802582"/>
            <a:ext cx="4904928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Zero Friction, High Risk: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"No Deposit" bookings account for nearly all of the cancellation weight across our historical dataset.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04875" y="4046190"/>
            <a:ext cx="4904928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Secured Revenue: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Applying a "Non-Refundable" policy drops the cancellation rate to near zero. We are currently offering maximum flexibility with zero downside for the customer.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2163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524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05338" y="1295400"/>
            <a:ext cx="51912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7770"/>
            <a:ext cx="3492549" cy="4549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27770"/>
            <a:ext cx="3492549" cy="4549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27770"/>
            <a:ext cx="3492549" cy="454922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866775" y="3280320"/>
            <a:ext cx="290199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Implement a Time-Based Rule: Require a 20% non-refundable deposit for bookings made 60+ days in advance, while maintaining "no deposit" flexibility for short-notice bookings to preserve conversion rates.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4645074" y="3280320"/>
            <a:ext cx="290199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Cap the room inventory allocated to high-churn OTA channels during peak high-demand seasons. Shift this inventory toward Direct and Corporate bookings where retention is statistically stable.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423374" y="3318420"/>
            <a:ext cx="290199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Utilize our newly developed Machine Learning probabilities to safely overbook specific high-churn room types. This maximizes occupancy and offsets anticipated cancellations without risking "walked" guests.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66775" y="2451645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Dynamic Deposits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97274" y="231829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4645074" y="2451645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OTA Reallocation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75574" y="231829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8423374" y="2318295"/>
            <a:ext cx="238526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Predictive Overbooking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808642" y="2337345"/>
            <a:ext cx="516731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54437" y="248974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47024" y="248974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952708" y="25087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295275" y="381000"/>
            <a:ext cx="1160145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Data-Driven Solutions to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Protect Revenue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127000" y="86250"/>
            <a:ext cx="4886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Dashboard </a:t>
            </a:r>
            <a:endParaRPr b="1" sz="3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49" name="Google Shape;149;p18" title="Screenshot 2026-07-18 1655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" y="871350"/>
            <a:ext cx="11712300" cy="566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