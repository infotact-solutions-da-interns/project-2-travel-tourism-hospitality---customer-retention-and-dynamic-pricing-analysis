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Lato" panose="020B0604020202020204" charset="0"/>
      <p:regular r:id="rId14"/>
      <p:bold r:id="rId15"/>
      <p:italic r:id="rId16"/>
      <p:boldItalic r:id="rId17"/>
    </p:embeddedFont>
    <p:embeddedFont>
      <p:font typeface="Poppins" panose="020B0604020202020204" charset="0"/>
      <p:regular r:id="rId18"/>
      <p:bold r:id="rId19"/>
      <p:italic r:id="rId20"/>
      <p:boldItalic r:id="rId21"/>
    </p:embeddedFont>
    <p:embeddedFont>
      <p:font typeface="Poppins Medium" panose="020B0604020202020204" charset="0"/>
      <p:regular r:id="rId22"/>
      <p:bold r:id="rId23"/>
      <p:italic r:id="rId24"/>
      <p:boldItalic r:id="rId25"/>
    </p:embeddedFont>
    <p:embeddedFont>
      <p:font typeface="Poppins SemiBold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font" Target="fonts/font19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5333" y="2277516"/>
            <a:ext cx="10661332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Travel, Tourism &amp; Hospitality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Data Analytics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024163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Mid-Project Review: Customer Retention &amp; Dynamic Pricing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836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904875" y="2096988"/>
            <a:ext cx="4905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Core Objective: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Identify the definitive historical and behavioral drivers behind hotel reservation cancellations.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04875" y="3340596"/>
            <a:ext cx="4905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Predictive Framework: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Build a robust, machine-learning-backed model to accurately forecast at-risk bookings.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04875" y="4584203"/>
            <a:ext cx="4905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Business Value: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Enable management to optimize dynamic pricing strategies, mitigate churn, and significantly reduce revenue loss.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Overview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6038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59646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0325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B951AE-2943-4FCA-9593-B9CC8D768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649" y="2065391"/>
            <a:ext cx="5118951" cy="39107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6450"/>
            <a:ext cx="3492549" cy="377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76450"/>
            <a:ext cx="3492549" cy="377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76450"/>
            <a:ext cx="3492549" cy="377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466975"/>
            <a:ext cx="7143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66775" y="3467100"/>
            <a:ext cx="185023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Price Sensitivity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66775" y="3943350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strong positive correlation exists between Average Daily Rate (ADR) and churn. Higher prices directly increase the likelihood of price-shopping and cancellations.</a:t>
            </a:r>
            <a:endParaRPr/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466975"/>
            <a:ext cx="7143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4645074" y="3467100"/>
            <a:ext cx="159019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Channel Risk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45074" y="3943350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Reservations originating from Online Travel Agencies (OTAs) exhibit a drastically higher cancellation rate compared to direct or corporate bookings.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466975"/>
            <a:ext cx="7143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423374" y="3467100"/>
            <a:ext cx="222027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Lead Time Danger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23374" y="3943350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Bookings made well in advance carry a significantly higher churn probability than last-minute reservations, requiring proactive engagement.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33462" y="26336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11762" y="26336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13874" y="263366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Phases 1 &amp; 2: Data Engineering &amp;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81262"/>
            <a:ext cx="4972050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1057275" y="2967037"/>
            <a:ext cx="4000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77%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57275" y="4633912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Cancellation Recall Rate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019800" y="2169914"/>
            <a:ext cx="5600700" cy="155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Transitioned from historical analysis to a robust predictive model, engineering new time-series metrics while actively removing retrospective data-leakage columns.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019800" y="3962400"/>
            <a:ext cx="5600700" cy="155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overcame severe target class imbalance by utilizing Standard Scaling and applying balanced class weights. The resulting Logistic Regression classifier achieved exceptional accuracy in identifying at-risk bookings.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3: Predictive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571500"/>
            <a:ext cx="555069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4: Business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Intelligence</a:t>
            </a:r>
            <a:endParaRPr/>
          </a:p>
        </p:txBody>
      </p:sp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2514600"/>
            <a:ext cx="5286375" cy="106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successfully exported the cleaned, scored dataset and established a robust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Star Schema architecture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within Power BI.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3821162"/>
            <a:ext cx="5286375" cy="1424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Our central Fact table is fully operational and strictly mapped to contextual dimension tables (Hotel Type, Market Segment). Initial DAX measures are tracking core executive KPIs.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5483869"/>
            <a:ext cx="5286375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All backend scripts and visualizations are secured via Git version control on our dedicated development branch.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1905000" y="1676846"/>
            <a:ext cx="8953500" cy="114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Current Project Status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We are currently operating ahead of schedule with zero technical blockers. The foundational data architecture is complete.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1905000" y="3200548"/>
            <a:ext cx="8953500" cy="114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Visual Dashboard Deployment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Focusing heavily on the UI/UX front-end build. We will be integrating interactive slicers and clustered bar charts to visualize churn by market segment.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905000" y="4724251"/>
            <a:ext cx="8953500" cy="114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Final Reporting &amp; Delivery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Upon dashboard completion, we will merge the development branch and compile the final data-driven business recommendation report.</a:t>
            </a:r>
            <a:endParaRPr/>
          </a:p>
        </p:txBody>
      </p:sp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1705421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229123"/>
            <a:ext cx="3429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752826"/>
            <a:ext cx="3429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Status &amp;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Next Steps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295275" y="2097434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Questions</a:t>
            </a:r>
            <a:r>
              <a:rPr lang="en-US" sz="75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571500" y="3764309"/>
            <a:ext cx="110490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Thank you for your time. Happy to discuss the methodology, the machine learning model, or our Power BI architecture.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387</Words>
  <Application>Microsoft Office PowerPoint</Application>
  <PresentationFormat>Widescreen</PresentationFormat>
  <Paragraphs>28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Poppins SemiBold</vt:lpstr>
      <vt:lpstr>Poppins Medium</vt:lpstr>
      <vt:lpstr>Calibri</vt:lpstr>
      <vt:lpstr>Arial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Payal Ghagargunde</dc:creator>
  <cp:lastModifiedBy>payal</cp:lastModifiedBy>
  <cp:revision>3</cp:revision>
  <dcterms:modified xsi:type="dcterms:W3CDTF">2026-07-07T13:23:07Z</dcterms:modified>
</cp:coreProperties>
</file>